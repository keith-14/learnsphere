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ret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08485" y="2007985"/>
            <a:ext cx="6271031" cy="6271031"/>
            <a:chOff x="0" y="0"/>
            <a:chExt cx="8361374" cy="8361374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6687" r="0" b="16687"/>
            <a:stretch>
              <a:fillRect/>
            </a:stretch>
          </p:blipFill>
          <p:spPr>
            <a:xfrm flipH="false" flipV="false">
              <a:off x="0" y="0"/>
              <a:ext cx="8361374" cy="8361374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649140" y="4104806"/>
            <a:ext cx="14989721" cy="246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07"/>
              </a:lnSpc>
            </a:pPr>
            <a:r>
              <a:rPr lang="en-US" sz="18783" spc="-939">
                <a:solidFill>
                  <a:srgbClr val="F8F6EF"/>
                </a:solidFill>
                <a:latin typeface="Garet"/>
                <a:ea typeface="Garet"/>
                <a:cs typeface="Garet"/>
                <a:sym typeface="Garet"/>
              </a:rPr>
              <a:t>LearnSphere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08485" y="1009650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F8F6EF"/>
                </a:solidFill>
                <a:latin typeface="Garet"/>
                <a:ea typeface="Garet"/>
                <a:cs typeface="Garet"/>
                <a:sym typeface="Garet"/>
              </a:rPr>
              <a:t>BUSINESS 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13996500" y="5016216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F8F6EF"/>
                </a:solidFill>
                <a:latin typeface="Garet"/>
                <a:ea typeface="Garet"/>
                <a:cs typeface="Garet"/>
                <a:sym typeface="Garet"/>
              </a:rPr>
              <a:t>v1.0</a:t>
            </a:r>
          </a:p>
        </p:txBody>
      </p:sp>
      <p:sp>
        <p:nvSpPr>
          <p:cNvPr name="TextBox 7" id="7"/>
          <p:cNvSpPr txBox="true"/>
          <p:nvPr/>
        </p:nvSpPr>
        <p:spPr>
          <a:xfrm rot="5400000">
            <a:off x="-1979498" y="5016183"/>
            <a:ext cx="6271031" cy="2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F8F6EF"/>
                </a:solidFill>
                <a:latin typeface="Garet"/>
                <a:ea typeface="Garet"/>
                <a:cs typeface="Garet"/>
                <a:sym typeface="Garet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1E1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3235208" y="3400408"/>
            <a:ext cx="9696450" cy="339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0"/>
              </a:lnSpc>
            </a:pPr>
            <a:r>
              <a:rPr lang="en-US" sz="13296" spc="-6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PROBLEM</a:t>
            </a:r>
          </a:p>
        </p:txBody>
      </p:sp>
      <p:sp>
        <p:nvSpPr>
          <p:cNvPr name="TextBox 3" id="3"/>
          <p:cNvSpPr txBox="true"/>
          <p:nvPr/>
        </p:nvSpPr>
        <p:spPr>
          <a:xfrm rot="-5400000">
            <a:off x="13996500" y="5016216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02227" y="6204115"/>
            <a:ext cx="9300986" cy="2967335"/>
            <a:chOff x="0" y="0"/>
            <a:chExt cx="12401315" cy="395644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817994"/>
              <a:ext cx="12401315" cy="2138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68"/>
                </a:lnSpc>
              </a:pPr>
              <a:r>
                <a:rPr lang="en-US" sz="2043" spc="4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Every year, thousands of students preparing for the hardest exams in the world — JEE, UPSC, NEET — don't fail because they weren't smart enough. They fail because no one noticed they were drowning. We are going to change that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3350"/>
              <a:ext cx="12401315" cy="13379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62"/>
                </a:lnSpc>
              </a:pPr>
              <a:r>
                <a:rPr lang="en-US" sz="7262" spc="-363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Mission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02227" y="2765490"/>
            <a:ext cx="9300986" cy="2965896"/>
            <a:chOff x="0" y="0"/>
            <a:chExt cx="12401315" cy="395452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816075"/>
              <a:ext cx="12401315" cy="2138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68"/>
                </a:lnSpc>
              </a:pPr>
              <a:r>
                <a:rPr lang="en-US" sz="2043" spc="4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Presentations are communication tools that can be used as demonstrations, lectures, speeches, reports, and more. It is mostly presented before an audience. It serves a variety of purposes, making presentations powerful tools for convincing and teaching.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142875"/>
              <a:ext cx="12401315" cy="1612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67"/>
                </a:lnSpc>
              </a:pPr>
              <a:r>
                <a:rPr lang="en-US" sz="7262" spc="-363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Vision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258946" y="744220"/>
            <a:ext cx="9219902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Coaching institutes have 200 students per batch. One teacher.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Zero real-time emotional visibility. That's not education — that's a lottery.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1E1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3235208" y="3400408"/>
            <a:ext cx="9696450" cy="339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0"/>
              </a:lnSpc>
            </a:pPr>
            <a:r>
              <a:rPr lang="en-US" sz="13296" spc="-6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OUR INSIGHTS</a:t>
            </a:r>
          </a:p>
        </p:txBody>
      </p:sp>
      <p:sp>
        <p:nvSpPr>
          <p:cNvPr name="TextBox 3" id="3"/>
          <p:cNvSpPr txBox="true"/>
          <p:nvPr/>
        </p:nvSpPr>
        <p:spPr>
          <a:xfrm rot="-5400000">
            <a:off x="13996500" y="5016216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219054" y="1783351"/>
            <a:ext cx="10170382" cy="6175812"/>
            <a:chOff x="0" y="0"/>
            <a:chExt cx="13560509" cy="823441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909181"/>
              <a:ext cx="13560509" cy="5325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2338" indent="-241169" lvl="1">
                <a:lnSpc>
                  <a:spcPts val="3574"/>
                </a:lnSpc>
                <a:buFont typeface="Arial"/>
                <a:buChar char="•"/>
              </a:pP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Performance isn't just about knowledge. It's about emotional state.</a:t>
              </a:r>
            </a:p>
            <a:p>
              <a:pPr algn="l" marL="482338" indent="-241169" lvl="1">
                <a:lnSpc>
                  <a:spcPts val="3574"/>
                </a:lnSpc>
                <a:buFont typeface="Arial"/>
                <a:buChar char="•"/>
              </a:pP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 student who is stressed during a mock test doesn't need harder questions.</a:t>
              </a:r>
            </a:p>
            <a:p>
              <a:pPr algn="l" marL="482338" indent="-241169" lvl="1">
                <a:lnSpc>
                  <a:spcPts val="3574"/>
                </a:lnSpc>
                <a:buFont typeface="Arial"/>
                <a:buChar char="•"/>
              </a:pP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They need confidence restored — right now, in real time.</a:t>
              </a:r>
            </a:p>
            <a:p>
              <a:pPr algn="l" marL="482338" indent="-241169" lvl="1">
                <a:lnSpc>
                  <a:spcPts val="3574"/>
                </a:lnSpc>
                <a:buFont typeface="Arial"/>
                <a:buChar char="•"/>
              </a:pP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 stu</a:t>
              </a: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dent texting your chatbot at 11 PM with "I don't get it" isn't just confused.</a:t>
              </a:r>
            </a:p>
            <a:p>
              <a:pPr algn="l" marL="482338" indent="-241169" lvl="1">
                <a:lnSpc>
                  <a:spcPts val="3574"/>
                </a:lnSpc>
                <a:buFont typeface="Arial"/>
                <a:buChar char="•"/>
              </a:pP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They m</a:t>
              </a: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ight be spiraling.</a:t>
              </a:r>
            </a:p>
            <a:p>
              <a:pPr algn="l">
                <a:lnSpc>
                  <a:spcPts val="3574"/>
                </a:lnSpc>
              </a:pP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No platform today reads both signals together. We do.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13560509" cy="2598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12"/>
                </a:lnSpc>
              </a:pPr>
              <a:r>
                <a:rPr lang="en-US" sz="3723" spc="-18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"What if your platform could tell — before the student even says a word — that they're about to give up?"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1E1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3235208" y="3400408"/>
            <a:ext cx="9696450" cy="339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0"/>
              </a:lnSpc>
            </a:pPr>
            <a:r>
              <a:rPr lang="en-US" sz="13296" spc="-6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OUR SOLUTION</a:t>
            </a:r>
          </a:p>
        </p:txBody>
      </p:sp>
      <p:sp>
        <p:nvSpPr>
          <p:cNvPr name="TextBox 3" id="3"/>
          <p:cNvSpPr txBox="true"/>
          <p:nvPr/>
        </p:nvSpPr>
        <p:spPr>
          <a:xfrm rot="-5400000">
            <a:off x="13996500" y="5016216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02227" y="2765490"/>
            <a:ext cx="8194291" cy="5947410"/>
            <a:chOff x="0" y="0"/>
            <a:chExt cx="10925721" cy="79298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676525"/>
              <a:ext cx="10925721" cy="5253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0"/>
                </a:lnSpc>
              </a:pPr>
            </a:p>
            <a:p>
              <a:pPr algn="l" marL="388620" indent="-194310" lvl="1">
                <a:lnSpc>
                  <a:spcPts val="2880"/>
                </a:lnSpc>
                <a:buFont typeface="Arial"/>
                <a:buChar char="•"/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LearnSphere — The Emotionally Intelligent Exam Prep Platform</a:t>
              </a:r>
            </a:p>
            <a:p>
              <a:pPr algn="l" marL="388620" indent="-194310" lvl="1">
                <a:lnSpc>
                  <a:spcPts val="2880"/>
                </a:lnSpc>
                <a:buFont typeface="Arial"/>
                <a:buChar char="•"/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Three AI Layers Working Simultaneously:</a:t>
              </a:r>
            </a:p>
            <a:p>
              <a:pPr algn="l" marL="388620" indent="-194310" lvl="1">
                <a:lnSpc>
                  <a:spcPts val="2880"/>
                </a:lnSpc>
                <a:buFont typeface="Arial"/>
                <a:buChar char="•"/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Computer Vision — Real-time face &amp; emotion detection via webcam during tests</a:t>
              </a:r>
            </a:p>
            <a:p>
              <a:pPr algn="l" marL="388620" indent="-194310" lvl="1">
                <a:lnSpc>
                  <a:spcPts val="2880"/>
                </a:lnSpc>
                <a:buFont typeface="Arial"/>
                <a:buChar char="•"/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Emotion-Aware LLM Chatbot — Powered by Groq, detects frustration in text</a:t>
              </a:r>
            </a:p>
            <a:p>
              <a:pPr algn="l" marL="388620" indent="-194310" lvl="1">
                <a:lnSpc>
                  <a:spcPts val="2880"/>
                </a:lnSpc>
                <a:buFont typeface="Arial"/>
                <a:buChar char="•"/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Teacher Intelligence Dashboard — Live student sentiment, dropout prediction, intervention tools</a:t>
              </a:r>
            </a:p>
            <a:p>
              <a:pPr algn="l" marL="388620" indent="-194310" lvl="1">
                <a:lnSpc>
                  <a:spcPts val="2880"/>
                </a:lnSpc>
                <a:buFont typeface="Arial"/>
                <a:buChar char="•"/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O</a:t>
              </a: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ne platform. Two interfaces. Zero blind spots.</a:t>
              </a:r>
            </a:p>
            <a:p>
              <a:pPr algn="l">
                <a:lnSpc>
                  <a:spcPts val="288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10925721" cy="2800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-15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"We built an AI-powered exam prep platform that doesn't just teach — it watches, listens, adapts, and alerts. Think of it as a teacher who never blinks."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1E1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3235208" y="3400408"/>
            <a:ext cx="9696450" cy="339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0"/>
              </a:lnSpc>
            </a:pPr>
            <a:r>
              <a:rPr lang="en-US" sz="13296" spc="-6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STUDENT JOURNEY</a:t>
            </a:r>
          </a:p>
        </p:txBody>
      </p:sp>
      <p:sp>
        <p:nvSpPr>
          <p:cNvPr name="TextBox 3" id="3"/>
          <p:cNvSpPr txBox="true"/>
          <p:nvPr/>
        </p:nvSpPr>
        <p:spPr>
          <a:xfrm rot="-5400000">
            <a:off x="13996500" y="5016216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02227" y="1045845"/>
            <a:ext cx="8194291" cy="8343831"/>
            <a:chOff x="0" y="0"/>
            <a:chExt cx="10925721" cy="111251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423953"/>
              <a:ext cx="10925721" cy="6701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Inside the Student Experience — Testing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Student logs in → Lands on personalized dashboard (calendar, task list, mock schedule pulled from Firebase by exam domain: UPSC / JEE / NEET)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Webcam activates → CV model begins live emotion detection in background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Two Paths Fork in Real Time: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Original TestMock Practice TestStandard scoringAdaptive logic ONBenchmarks true performanceIf stress/confusion detected → question difficulty auto-reducesNo CV interventionGoal: Restore confidence, not just score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Every emotion state → Logged to Firebase → Pushed to Teacher Dashboard instantly</a:t>
              </a:r>
            </a:p>
            <a:p>
              <a:pPr algn="l">
                <a:lnSpc>
                  <a:spcPts val="288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10925721" cy="4222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-15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"We built an AI-powered exam prep platform that doesn't just tea"Imagine a test that gets easier the moment it senses you panicking — not to cheat you, but to rebuild you."</a:t>
              </a:r>
            </a:p>
            <a:p>
              <a:pPr algn="l">
                <a:lnSpc>
                  <a:spcPts val="4200"/>
                </a:lnSpc>
              </a:pPr>
              <a:r>
                <a:rPr lang="en-US" sz="3000" spc="-15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ch — it watches, listens, adapts, and alerts. Think of it as a teacher who never blinks."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1E1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2582746" y="2747946"/>
            <a:ext cx="10039350" cy="503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0"/>
              </a:lnSpc>
            </a:pPr>
            <a:r>
              <a:rPr lang="en-US" sz="13296" spc="-6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EMOTION-AWARE CHATBOT</a:t>
            </a:r>
          </a:p>
        </p:txBody>
      </p:sp>
      <p:sp>
        <p:nvSpPr>
          <p:cNvPr name="TextBox 3" id="3"/>
          <p:cNvSpPr txBox="true"/>
          <p:nvPr/>
        </p:nvSpPr>
        <p:spPr>
          <a:xfrm rot="-5400000">
            <a:off x="13996500" y="5016216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02227" y="1045845"/>
            <a:ext cx="8194291" cy="6719254"/>
            <a:chOff x="0" y="0"/>
            <a:chExt cx="10925721" cy="895900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257850"/>
              <a:ext cx="10925721" cy="6701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The Groq LLM Chatbot — It Reads Between the Lines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Student opens chat → Types any study question → LLM analyzes text + historical chat patterns for emotional state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Two Response Modes: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Academic Mode (Confident / Neutrally Confused)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→ Answers the question clearly. Business as usual.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Emotional Intervention Mode (Stress / Frustration Detected)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→ Tone shifts. Bot redirects to the Wellness Section:</a:t>
              </a:r>
            </a:p>
            <a:p>
              <a:pPr algn="l">
                <a:lnSpc>
                  <a:spcPts val="2880"/>
                </a:lnSpc>
              </a:pP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Wheel of QnA — Reflective questions on study strategy &amp; progress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Curated podcast &amp; movie recommendations for productive downtime</a:t>
              </a:r>
            </a:p>
            <a:p>
              <a:pPr algn="l">
                <a:lnSpc>
                  <a:spcPts val="2880"/>
                </a:lnSpc>
              </a:pP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Everything logged → Teacher sees it live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10925721" cy="208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-15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"Your chatbot shouldn't just answer questions. It should know when to stop answering and start listening."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1E1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3554982" y="3554982"/>
            <a:ext cx="10500894" cy="339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0"/>
              </a:lnSpc>
            </a:pPr>
            <a:r>
              <a:rPr lang="en-US" sz="13296" spc="-6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TEACHER DASHBOARD</a:t>
            </a:r>
          </a:p>
        </p:txBody>
      </p:sp>
      <p:sp>
        <p:nvSpPr>
          <p:cNvPr name="TextBox 3" id="3"/>
          <p:cNvSpPr txBox="true"/>
          <p:nvPr/>
        </p:nvSpPr>
        <p:spPr>
          <a:xfrm rot="-5400000">
            <a:off x="13996500" y="5016216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02227" y="1045845"/>
            <a:ext cx="8194291" cy="6166804"/>
            <a:chOff x="0" y="0"/>
            <a:chExt cx="10925721" cy="822240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969050"/>
              <a:ext cx="10925721" cy="5253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The Teacher Intelligence Dashboard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Home Tab — Live KPIs at a Glance: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KPIWhat It Shows👥 Total StudentsEnrollment overview💚 Avg Student SentimentMode of sentiment across CV + Chat + Polls📷 Avg CV FeedbackAggregated emotional state during all tests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Below the KPIs — The Dropout Heatmap: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→ GitHub contribution-style grid of every student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→ Color coded: 🟢 Safe → 🟡 At Risk → 🔴 High Dropout Likelihood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→ Hover over any cell → Student name + dropout risk score appears instantly</a:t>
              </a:r>
            </a:p>
            <a:p>
              <a:pPr algn="l">
                <a:lnSpc>
                  <a:spcPts val="288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10925721" cy="2800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-15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"Right now, a teacher's only signal that a student is struggling is when they stop showing up. We give teachers a dashboard that predicts it 3 weeks earlier."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DAHB2m8ovxE</dc:identifier>
  <dcterms:modified xsi:type="dcterms:W3CDTF">2011-08-01T06:04:30Z</dcterms:modified>
  <cp:revision>1</cp:revision>
  <dc:title>Black and Red Clean Minimal Professional Startup Pitch Deck Presentation</dc:title>
</cp:coreProperties>
</file>